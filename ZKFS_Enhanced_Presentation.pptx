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1371600"/>
            <a:ext cx="4572000" cy="4572000"/>
          </a:xfrm>
          <a:prstGeom prst="ellipse">
            <a:avLst/>
          </a:prstGeom>
          <a:solidFill>
            <a:srgbClr val="581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017" y="1097280"/>
            <a:ext cx="4510927" cy="46634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IIT JAMMU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Zero-Knowledge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8B5CF6"/>
                </a:solidFill>
                <a:latin typeface="Calibri"/>
              </a:rPr>
              <a:t>File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219450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1A1AA"/>
                </a:solidFill>
                <a:latin typeface="Calibri"/>
              </a:rPr>
              <a:t>Next-Generation Privacy-Preserving Cloud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1AA"/>
                </a:solidFill>
                <a:latin typeface="Calibri"/>
              </a:rPr>
              <a:t>Presented by: Jayaprakash V
Student, IIT Jammu
2025–26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85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0330" y="1417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Zero-Knowledge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0330" y="164592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Server sees only ciphertext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8850" y="2377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0330" y="2377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0330" y="260604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AES-256-GCM chunk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8850" y="33375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033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WebAuthn Passkeys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0330" y="35661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Hardware-backed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8850" y="42976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330" y="4297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Cloud 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0330" y="452628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Spring Boot + MinIO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219169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" y="150876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534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Why existing cloud storage fails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020824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046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20824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is ZKFS?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3113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Zero-knowledge architecture overview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2532888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5582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32888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Security Deep 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4320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Cryptographic mechanisms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304495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3070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4495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Upload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5526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Real-time streaming encryption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3557016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35824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557016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6732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File sharing, passkeys, offline vault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406908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409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69080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7939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Frontend, Backend, Storage, Crypto</a:t>
            </a:r>
          </a:p>
        </p:txBody>
      </p:sp>
      <p:sp>
        <p:nvSpPr>
          <p:cNvPr id="30" name="Oval 29"/>
          <p:cNvSpPr/>
          <p:nvPr/>
        </p:nvSpPr>
        <p:spPr>
          <a:xfrm>
            <a:off x="411480" y="4581144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6065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81144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UI/UX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9145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Premium design system</a:t>
            </a:r>
          </a:p>
        </p:txBody>
      </p:sp>
      <p:sp>
        <p:nvSpPr>
          <p:cNvPr id="34" name="Oval 33"/>
          <p:cNvSpPr/>
          <p:nvPr/>
        </p:nvSpPr>
        <p:spPr>
          <a:xfrm>
            <a:off x="411480" y="5093208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511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93208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0352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Component diagram</a:t>
            </a:r>
          </a:p>
        </p:txBody>
      </p:sp>
      <p:sp>
        <p:nvSpPr>
          <p:cNvPr id="38" name="Oval 37"/>
          <p:cNvSpPr/>
          <p:nvPr/>
        </p:nvSpPr>
        <p:spPr>
          <a:xfrm>
            <a:off x="411480" y="560527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5630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0527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1558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Roadmap and enhancements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0" i="0">
                <a:solidFill>
                  <a:srgbClr val="8B5CF6"/>
                </a:solidFill>
                <a:latin typeface="Calibri"/>
              </a:rPr>
              <a:t>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4E4E7"/>
                </a:solidFill>
                <a:latin typeface="Calibri"/>
              </a:rPr>
              <a:t>End-to-End Encrypted
File Storage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01  /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Traditional Cloud Storage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828754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474720" cy="42062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Server Holds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Calibri"/>
              </a:rPr>
              <a:t>Providers like Google Drive and Dropbox manage encryption keys on their servers. They can access your files at any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474720" cy="42062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4747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🕵️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Data Surveillance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Calibri"/>
              </a:rPr>
              <a:t>Files are scanned for advertising, compliance checks, and can be handed over to governments upon legal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474720" cy="42062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47472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Breach Catastrophe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175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A1AA"/>
                </a:solidFill>
                <a:latin typeface="Calibri"/>
              </a:rPr>
              <a:t>A single server compromise exposes millions of users' plaintext files. 2022–24 saw 4 billion+ records leaked from cloud providers.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943600"/>
            <a:ext cx="12191695" cy="822960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  4B+  Records leaked (2022–24)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080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  93%  Of breaches involve cloud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080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  $4.45M  Average cost of a data breach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702552"/>
            <a:ext cx="1219169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02  /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ZKFS?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463003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4E4E7"/>
                </a:solidFill>
                <a:latin typeface="Calibri"/>
              </a:rPr>
              <a:t>ZKFS is a Zero-Knowledge cloud storage platform where encryption and decryption happen exclusively inside the user's browser. The server stores only cryptographic ciphertext — never plaintext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9601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508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Client-Side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All cryptographic operations occur exclusively in the browser via WebCrypto API. No plaintext ever leaves your device.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11247120" cy="9601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0800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🗝️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Sovereignty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862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You own your keys. Master keys are derived from your password using Argon2id. Passkeys use hardware-backed WebAuthn PRF.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9601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50800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Server Blindness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The server is mathematically unable to decrypt your files. Even with full database access, contents remain inaccessible.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47120" cy="9601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50800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Chunked 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1A1AA"/>
                </a:solidFill>
                <a:latin typeface="Calibri"/>
              </a:rPr>
              <a:t>Files are sliced into 5MB chunks and encrypted in real-time. This supports massive files without memory overflow.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03  / 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Cryptographic 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438339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9377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KEY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  <a:latin typeface="Calibri"/>
              </a:rPr>
              <a:t>Master Password  +  PBKDF2 Salt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525B"/>
                </a:solidFill>
                <a:latin typeface="Calibri"/>
              </a:rPr>
              <a:t>▼ Argon2id (4MB memory, 3 iter)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626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Master Session Key (MSK)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381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525B"/>
                </a:solidFill>
                <a:latin typeface="Calibri"/>
              </a:rPr>
              <a:t>▼ AES-256-GCM Wrap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3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Data Encryption Key (DEK)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525B"/>
                </a:solidFill>
                <a:latin typeface="Calibri"/>
              </a:rPr>
              <a:t>▼ File encrypted chunk-by-chunk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646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Encrypted Ciphertext  →  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834640" cy="228600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834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Argon2id KDF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Memory: 4 MB per hash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Iterations: 3 passes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Parallelism: 2 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083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→ Brute-force resistant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463040"/>
            <a:ext cx="2834640" cy="228600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463040"/>
            <a:ext cx="28346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600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AES-256-GCM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Key size: 256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Nonce: 96-bit random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660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Auth tag: 128-bit GCM 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0083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→ Authenticated encryption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931920"/>
            <a:ext cx="2834640" cy="228600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28346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WebAuthn PRF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FIDO2 hardware authenticator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82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PRF extension output as KEK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29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Biometric-bound secret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772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→ Phishing-proof passkeys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931920"/>
            <a:ext cx="2834640" cy="228600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3931920"/>
            <a:ext cx="283464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ECDH Sharing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P-384 key pair per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7823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Ephemeral DEK wrapping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129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4E4E7"/>
                </a:solidFill>
                <a:latin typeface="Calibri"/>
              </a:rPr>
              <a:t>Secure file sharing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54772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→ Forward secrecy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04  /  UPLOAD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Real-Time Streaming Encryption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19450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14630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Select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User selects file via drag-and-drop.
File stays in browser memory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525B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210312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60320" y="224028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Generate DEK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Browser generates a 256-bit AES-GCM DEK
per file using window.crypto.getRandomValues().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525B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0" y="2103120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7680" y="224028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Wrap DEK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DEK is wrapped with Master Key / Passkey / Password.
Server receives only the ciphertext wrapper.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525B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103120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0" y="224028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Encrypt Filename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Filename and thumbnail are encrypted
with the Master Key for vault visibility.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525B"/>
                </a:solidFill>
                <a:latin typeface="Calibri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23760" y="2103120"/>
            <a:ext cx="14630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2400" y="22402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411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Chunk + Encrypt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691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File is sliced into 5MB chunks. Each chunk is
encrypted in-memory with AES-256-GCM.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525B"/>
                </a:solidFill>
                <a:latin typeface="Calibr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2103120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09760" y="2240280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Upload to MinIO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Presigned URLs are used to upload encrypted chunks
directly to object storage, bypassing the app server.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2525B"/>
                </a:solidFill>
                <a:latin typeface="Calibri"/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0" y="2103120"/>
            <a:ext cx="1463040" cy="219456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98480" y="2103120"/>
            <a:ext cx="146304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247120" y="2240280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28832" y="22677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7432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Finalize + Verify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71632" y="3154680"/>
            <a:ext cx="1353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1A1AA"/>
                </a:solidFill>
                <a:latin typeface="Calibri"/>
              </a:rPr>
              <a:t>SHA-256 hash of each chunk is verified.
Server confirms upload integrity.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solidFill>
            <a:srgbClr val="0E0E16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645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⚡  Zero plaintext leaves the browser.  The server only ever receives AES-256-GCM encrypted bytes. Even MinIO storage operators cannot read your files.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05  / 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Platform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463003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65760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8100" cy="2148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Passkey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WebAuthn FIDO2 hardware keys (Touch ID, Face ID, YubiKey)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04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PRF extension extracts a cryptographic secret from the authenticator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Used to wrap/unwrap individual file DEKs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998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Phishing-proof — credential is bound to this domain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365760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508760"/>
            <a:ext cx="38100" cy="2148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184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Encrypted File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057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P-384 ECDH ephemeral key exchange per share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404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DEK is re-wrapped with the recipient's public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Server sees only re-encrypted blobs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0998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Time-limited share tokens with expiry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508760"/>
            <a:ext cx="365760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1508760"/>
            <a:ext cx="38100" cy="2148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6184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alibri"/>
              </a:rPr>
              <a:t>Offline Vault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0574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Full vault can be exported as an encrypted .zkfs archive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2404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Entire file index and chunks are bundled locally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Decrypted offline using local session keys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09981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Re-sync on reconnection with delta updates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86200"/>
            <a:ext cx="365760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38100" cy="2148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959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99592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Individual File 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434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Lock any single file with a unique custom 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7823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Or lock with a Passkey for hardware protection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1297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DEK re-encrypted with file-specific KEK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4772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Contents require secondary auth to decrypt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3886200"/>
            <a:ext cx="365760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3886200"/>
            <a:ext cx="38100" cy="2148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39959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99592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Folder Hierarchy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4434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Nested folder creation and drag-drop organization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47823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Folder names are also encrypted at 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51297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Multi-select operations (bulk move, delete)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54772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Trash bin with 30-day soft delete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886200"/>
            <a:ext cx="365760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0" y="3886200"/>
            <a:ext cx="38100" cy="2148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39959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99592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User Sharing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434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Share files with other registered ZKFS users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22208" y="47823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Asymmetric key-wrapping preserves zero-knowledge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51297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Recipient gets re-encrypted DEK, never plaintext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2208" y="54772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• Revokable at any time by the file owner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06  / 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Powers ZKFS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5849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743200" cy="48463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74320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React 18 + Next.js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App Router, SSR, API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End-to-end type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826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3872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Utility-first dark 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410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Framer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9709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Premium micro-animations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994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TanStack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5546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Server state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508760"/>
            <a:ext cx="2743200" cy="48463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508760"/>
            <a:ext cx="2743200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554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9659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Java 17 + Spring Boot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22199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REST API, business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6243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Spring Security + 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80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Stateless auth, token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Flyway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53872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SQL migration versioning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9410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MinIO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19709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Presigned S3 object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5994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85546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Session cache &amp; revocation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508760"/>
            <a:ext cx="2743200" cy="48463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508760"/>
            <a:ext cx="2743200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554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STORAGE &amp;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19659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PostgreSQL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22199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Relational metadata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6243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880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S3-compatible object 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826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Redis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53872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Fast key-value token 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410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Flyway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19709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Schema version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5994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JPA / Hibernate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85546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ORM with auditing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1508760"/>
            <a:ext cx="2743200" cy="48463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81160" y="1508760"/>
            <a:ext cx="274320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15544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CRYPTOGRAPHY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19659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WebCrypto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2221992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Browser-native AES-256-GCM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26243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Argon2id (WASM)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880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Memory-hard KDF for passwords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328269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SimpleWebAuthn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3538728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FIDO2 passkey registration/auth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39410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ECDH P-384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197096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Key exchange for file sharing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5994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SHA-256 Integrity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4855464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1A1AA"/>
                </a:solidFill>
                <a:latin typeface="Calibri"/>
              </a:rPr>
              <a:t>Per-chunk hash verification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08  /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Component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19450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1645920"/>
          </a:xfrm>
          <a:prstGeom prst="rect">
            <a:avLst/>
          </a:prstGeom>
          <a:solidFill>
            <a:srgbClr val="0E0E28"/>
          </a:solidFill>
          <a:ln w="9525">
            <a:solidFill>
              <a:srgbClr val="503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USER BROWSER (CLIENT-SIDE CRYPTO ZONE)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560320" cy="1005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Next.js UI  |  Framer Motion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74519"/>
            <a:ext cx="2560320" cy="1005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WebCrypto API  |  Argon2id WASM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2560320" cy="1005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SimpleWebAuthn  |  TanStack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874519"/>
            <a:ext cx="2560320" cy="1005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Session Key Store (memory-only)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11430000" cy="1188720"/>
          </a:xfrm>
          <a:prstGeom prst="rect">
            <a:avLst/>
          </a:prstGeom>
          <a:solidFill>
            <a:srgbClr val="0C1C18"/>
          </a:solidFill>
          <a:ln w="9525">
            <a:solidFill>
              <a:srgbClr val="1E8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SPRING BOOT 3 BACKEND  (Java 17)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Spring Security +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97763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FileController / AuthController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7763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FileStorageService + MinIO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97763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977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4E4E7"/>
                </a:solidFill>
                <a:latin typeface="Calibri"/>
              </a:rPr>
              <a:t>JPA / PostgreSQL 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525B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3566160" cy="11887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257800"/>
            <a:ext cx="356616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349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PostgreSQL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715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Metadata, users,
share links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257800"/>
            <a:ext cx="3566160" cy="11887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5257800"/>
            <a:ext cx="356616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5349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MinIO Object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715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Encrypted file
chunks (S3)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257800"/>
            <a:ext cx="3566160" cy="118872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21040" y="5257800"/>
            <a:ext cx="356616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5349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Redis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715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JWT token cache
&amp; revocation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09  / 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Roadmap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828754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52044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38100" cy="2148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📱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Native iOS &amp; Android apps with biometric passkey unlock and offline encrypted vault sync.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352044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38100" cy="2148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Q4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4708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📝 Collaborative Editing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5856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Real-time encrypted document co-editing using CRDTs (Conflict-free Replicated Data Types). Server sees only deltas — never plaintext.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52044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8100" cy="2148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Calibri"/>
              </a:rP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4708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⛓️ Blockchain 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5856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Immutable, tamper-proof audit trail of file access events stored on a permissioned blockchain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352044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38100" cy="2148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3192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Q2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788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🌍 Federated Vaults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9028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Peer-to-peer vault federation. Users can self-host ZKFS nodes and inter-operate securely with the main network.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840480"/>
            <a:ext cx="352044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840480"/>
            <a:ext cx="38100" cy="2148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93192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  <a:latin typeface="Calibri"/>
              </a:rPr>
              <a:t>Q3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788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AI on Encrypted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9028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Privacy-preserving ML inference using Fully Homomorphic Encryption (FHE). AI processes ciphertext — never plaintext.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840480"/>
            <a:ext cx="3520440" cy="2148840"/>
          </a:xfrm>
          <a:prstGeom prst="rect">
            <a:avLst/>
          </a:prstGeom>
          <a:solidFill>
            <a:srgbClr val="12121C"/>
          </a:solidFill>
          <a:ln w="9525"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840480"/>
            <a:ext cx="38100" cy="2148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393192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D3EE"/>
                </a:solidFill>
                <a:latin typeface="Calibri"/>
              </a:rPr>
              <a:t>Q4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1788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🏢 Enterprise 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590288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  <a:latin typeface="Calibri"/>
              </a:rPr>
              <a:t>SAML2/OIDC federation for enterprise SSO with zero-knowledge guarantees. Group policy key management for organizations.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25B"/>
                </a:solidFill>
                <a:latin typeface="Calibri"/>
              </a:rPr>
              <a:t>ZKFS  ·  Final Project Presentation  ·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731520"/>
            <a:ext cx="7589520" cy="7589520"/>
          </a:xfrm>
          <a:prstGeom prst="ellipse">
            <a:avLst/>
          </a:prstGeom>
          <a:solidFill>
            <a:srgbClr val="3C1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1A1AA"/>
                </a:solidFill>
                <a:latin typeface="Calibri"/>
              </a:rPr>
              <a:t>Questions &amp;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617720"/>
            <a:ext cx="6095847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1A1AA"/>
                </a:solidFill>
                <a:latin typeface="Calibri"/>
              </a:rPr>
              <a:t>Presented by: Jayaprakash V   ·   IIT Jammu   ·   2025–26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5CF6"/>
                </a:solidFill>
                <a:latin typeface="Calibri"/>
              </a:rPr>
              <a:t>github.com/jayaprakash27777/ZKFS-VAULT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E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428232"/>
            <a:ext cx="12191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525B"/>
                </a:solidFill>
                <a:latin typeface="Calibri"/>
              </a:rPr>
              <a:t>ZKFS — Zero-Knowledge File System  |  IIT Jammu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